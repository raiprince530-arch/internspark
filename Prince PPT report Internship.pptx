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30" r:id="rId1"/>
  </p:sldMasterIdLst>
  <p:notesMasterIdLst>
    <p:notesMasterId r:id="rId14"/>
  </p:notesMasterIdLst>
  <p:sldIdLst>
    <p:sldId id="483" r:id="rId2"/>
    <p:sldId id="484" r:id="rId3"/>
    <p:sldId id="470" r:id="rId4"/>
    <p:sldId id="488" r:id="rId5"/>
    <p:sldId id="478" r:id="rId6"/>
    <p:sldId id="482" r:id="rId7"/>
    <p:sldId id="486" r:id="rId8"/>
    <p:sldId id="489" r:id="rId9"/>
    <p:sldId id="485" r:id="rId10"/>
    <p:sldId id="487" r:id="rId11"/>
    <p:sldId id="473" r:id="rId12"/>
    <p:sldId id="468" r:id="rId13"/>
  </p:sldIdLst>
  <p:sldSz cx="12192000" cy="6858000"/>
  <p:notesSz cx="6954838" cy="93091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1180"/>
    <a:srgbClr val="FF3300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47" autoAdjust="0"/>
    <p:restoredTop sz="94434" autoAdjust="0"/>
  </p:normalViewPr>
  <p:slideViewPr>
    <p:cSldViewPr snapToGrid="0">
      <p:cViewPr varScale="1">
        <p:scale>
          <a:sx n="89" d="100"/>
          <a:sy n="89" d="100"/>
        </p:scale>
        <p:origin x="68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893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91A9256-F9C8-48F3-9246-288820D197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08C6F2-4266-4213-8BF4-8EA0CDC970F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40175" y="0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AA20220-E8D3-4BE8-9E9D-D5B982467646}" type="datetimeFigureOut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B13A30F-9520-44F4-81B2-1BCC447DE5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266252B-3FF1-4DA9-A03B-C61619A410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DEBF4-55D6-4B92-B2C6-9B4374F6BE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842375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A1201-67BC-4B63-9687-0E19225243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40175" y="8842375"/>
            <a:ext cx="3013075" cy="466725"/>
          </a:xfrm>
          <a:prstGeom prst="rect">
            <a:avLst/>
          </a:prstGeom>
        </p:spPr>
        <p:txBody>
          <a:bodyPr vert="horz" wrap="square" lIns="92930" tIns="46465" rIns="92930" bIns="46465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6A1ABE2-8A9C-4371-A477-2D85B6949AD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71945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198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7341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56918-D4B3-422F-BFF9-D10393CB1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984284-C742-4CDE-BCD1-55F1EACCE4BD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2B6A4-3E11-4AFE-97A2-755EDA1DD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D3FD1-471F-422B-AFB8-CC8FCE5DC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AC8F4A-8BCF-4389-A68F-ABDBB8A384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8394844"/>
      </p:ext>
    </p:extLst>
  </p:cSld>
  <p:clrMapOvr>
    <a:masterClrMapping/>
  </p:clrMapOvr>
  <p:transition spd="slow">
    <p:blinds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B27E7-0E5F-45FD-B9BC-82F6ACE50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400D6F-81A6-4CA0-8B3C-34372C62B661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0F7A6-907E-418D-ABF6-CE0D106D2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6D880-0EA6-4FCD-A723-C39323563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5EC703-C051-410C-8BA1-62752E291E8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9887381"/>
      </p:ext>
    </p:extLst>
  </p:cSld>
  <p:clrMapOvr>
    <a:masterClrMapping/>
  </p:clrMapOvr>
  <p:transition spd="slow">
    <p:blinds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DAA96-8682-4C88-9622-87E036243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3234D9-D072-4920-821D-BED01FCB7247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29450-6172-4A34-B37F-64FAD195B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A622E-84FA-417F-BD5A-BE81A4899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A17B78-0E85-43B3-B804-1DD2F629C1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3603393"/>
      </p:ext>
    </p:extLst>
  </p:cSld>
  <p:clrMapOvr>
    <a:masterClrMapping/>
  </p:clrMapOvr>
  <p:transition spd="slow">
    <p:blinds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0375BCC-EEE9-412B-A532-7314FE84B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A9FD15-50EB-4E55-A7AC-5D569B5B3C80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E5CB5DD-B599-4B4E-BFCE-CB9E35FBC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7CE3315-9445-4BB5-89D3-235E587AB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0EC4D6-2A5D-45C1-86E3-8BE19A62D20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1645173"/>
      </p:ext>
    </p:extLst>
  </p:cSld>
  <p:clrMapOvr>
    <a:masterClrMapping/>
  </p:clrMapOvr>
  <p:transition spd="slow">
    <p:blinds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30AD5EF-C609-4119-B375-3771413B4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50B61E-D197-4188-943F-30B5936FC2F9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8A9EBF0-B7B0-4583-92AB-A3431DE62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83BC57B-A7E4-4277-9D46-579496497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F6C894-F542-45DE-85A4-2725CE9249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0619855"/>
      </p:ext>
    </p:extLst>
  </p:cSld>
  <p:clrMapOvr>
    <a:masterClrMapping/>
  </p:clrMapOvr>
  <p:transition spd="slow">
    <p:blinds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1D81C82-41E3-4C7D-816C-58F99A170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D41E7F-6671-4D2D-B6AD-20E102447CE3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1C23C57-193A-4FFE-AF84-5DDAD5045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00AA421-04F3-46DC-9A65-181848BF7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9318FD-4EEC-4C57-A972-0B24B8515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4775401"/>
      </p:ext>
    </p:extLst>
  </p:cSld>
  <p:clrMapOvr>
    <a:masterClrMapping/>
  </p:clrMapOvr>
  <p:transition spd="slow">
    <p:blinds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3218A1C0-5E86-44FA-96CE-D0C3A0911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E11748-68B0-424D-A128-8EE4A2F1567E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C30598B-A85E-40F2-B0F9-CC04D8E3F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20ADC7C-B221-49C5-9757-EBEBB0F92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195F4C-44D2-4F45-A0AC-21646A9D27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9266658"/>
      </p:ext>
    </p:extLst>
  </p:cSld>
  <p:clrMapOvr>
    <a:masterClrMapping/>
  </p:clrMapOvr>
  <p:transition spd="slow">
    <p:blinds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79DD4CF-015F-4F62-A63C-9D088FAC4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94E8B7-7DCF-4AE2-ACBE-26DA6EBB7347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F56518C-25E4-4791-80CF-9603927DE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46B593C-043B-40F1-98DA-B1906E58E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D429D7-E526-4101-969E-B40B8D8E48C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8220043"/>
      </p:ext>
    </p:extLst>
  </p:cSld>
  <p:clrMapOvr>
    <a:masterClrMapping/>
  </p:clrMapOvr>
  <p:transition spd="slow">
    <p:blinds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B5A9D87-E05A-4D16-A703-1E97A8BA2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AEAC7-C2C3-44AF-AB2E-36A1774D5378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0E92F1C-94F6-478A-96CC-20CEB3BF8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1659F05-47D4-46F4-A7AC-A02AE18D3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6FD7F1-16F9-4E12-83AD-C4245146BA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9370667"/>
      </p:ext>
    </p:extLst>
  </p:cSld>
  <p:clrMapOvr>
    <a:masterClrMapping/>
  </p:clrMapOvr>
  <p:transition spd="slow">
    <p:blinds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AAE25-87DE-4998-B6CE-F47978987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2336F-006F-49C3-8FF0-2416E12056BA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9861B-6D3E-4215-A3D0-377EC12DA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5A02C-FFC9-401E-8BCD-D06F65B16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CA2AFE-CAB8-4467-80DC-C3A4FC1E27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6143411"/>
      </p:ext>
    </p:extLst>
  </p:cSld>
  <p:clrMapOvr>
    <a:masterClrMapping/>
  </p:clrMapOvr>
  <p:transition spd="slow">
    <p:blinds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B4638-3310-4031-B55D-BE295B1A7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683BFA-96BB-4329-BF2F-32F59AFA4E79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7728E-C01A-4686-AD71-F7B61E820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71C28-1E00-4F0A-8B9D-A0E460685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DD8426-6957-4B5B-B927-2BE994D1B7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399607"/>
      </p:ext>
    </p:extLst>
  </p:cSld>
  <p:clrMapOvr>
    <a:masterClrMapping/>
  </p:clrMapOvr>
  <p:transition spd="slow">
    <p:blinds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D9A3E1B4-65C6-415A-9681-D05B402B0E8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0C566853-DAEB-4CB7-818F-723C37230FE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BD739-9829-4F69-BC53-75013DDD18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46687D5-4D00-474F-82B8-FCFBD98170F5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F0A4C-9308-45AA-A1AA-7B038DC01F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AE0DB-89DF-4A35-9269-9E85DEA2E3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DBF7CE3-29D9-4203-A481-45960E7661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1" name="Picture 7">
            <a:extLst>
              <a:ext uri="{FF2B5EF4-FFF2-40B4-BE49-F238E27FC236}">
                <a16:creationId xmlns:a16="http://schemas.microsoft.com/office/drawing/2014/main" id="{102663E2-6C69-49E4-9FEB-A0ED3DD955F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53025"/>
            <a:ext cx="12192000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31" r:id="rId1"/>
    <p:sldLayoutId id="2147484232" r:id="rId2"/>
    <p:sldLayoutId id="2147484233" r:id="rId3"/>
    <p:sldLayoutId id="2147484234" r:id="rId4"/>
    <p:sldLayoutId id="2147484235" r:id="rId5"/>
    <p:sldLayoutId id="2147484236" r:id="rId6"/>
    <p:sldLayoutId id="2147484237" r:id="rId7"/>
    <p:sldLayoutId id="2147484238" r:id="rId8"/>
    <p:sldLayoutId id="2147484239" r:id="rId9"/>
    <p:sldLayoutId id="2147484240" r:id="rId10"/>
    <p:sldLayoutId id="2147484241" r:id="rId11"/>
  </p:sldLayoutIdLst>
  <p:transition spd="slow">
    <p:blinds dir="vert"/>
  </p:transition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</a:t>
            </a:r>
            <a:r>
              <a:rPr lang="en-GB" sz="2000" b="1" i="0" u="none" strike="noStrike" cap="none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Supervision</a:t>
            </a: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of,</a:t>
            </a: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</a:pPr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Ms.</a:t>
            </a:r>
            <a:r>
              <a:rPr lang="en-IN" dirty="0"/>
              <a:t> Akkamaha Devi and Mr. Vishnu Shankar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91065" y="3950051"/>
            <a:ext cx="12009870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 Tech (CSE)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Nagaraja S R</a:t>
            </a:r>
          </a:p>
          <a:p>
            <a:pPr lv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 Vidhya Rengasamy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Coordinators: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Bhuvaneshwari Patil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CSE7000 -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Presentation on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IN" sz="2400" dirty="0"/>
              <a:t>Cybersecurity Internship at InternSpark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4520225"/>
              </p:ext>
            </p:extLst>
          </p:nvPr>
        </p:nvGraphicFramePr>
        <p:xfrm>
          <a:off x="601909" y="1911875"/>
          <a:ext cx="4884491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513221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Prince Kumar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20241CSE0194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/>
                        <a:t>5CSE03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0239800"/>
      </p:ext>
    </p:extLst>
  </p:cSld>
  <p:clrMapOvr>
    <a:masterClrMapping/>
  </p:clrMapOvr>
  <p:transition spd="slow"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1202544" y="37957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62000" y="1166872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 / Course Description</a:t>
            </a: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Results (Optional)</a:t>
            </a:r>
            <a:endParaRPr lang="en-IN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Conclusion</a:t>
            </a:r>
            <a:endParaRPr lang="en-IN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648573"/>
      </p:ext>
    </p:extLst>
  </p:cSld>
  <p:clrMapOvr>
    <a:masterClrMapping/>
  </p:clrMapOvr>
  <p:transition spd="slow">
    <p:blinds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88957"/>
            <a:ext cx="6132226" cy="3649250"/>
          </a:xfrm>
        </p:spPr>
        <p:txBody>
          <a:bodyPr/>
          <a:lstStyle/>
          <a:p>
            <a:r>
              <a:rPr lang="en-IN" b="1" dirty="0"/>
              <a:t>InternSpark</a:t>
            </a:r>
            <a:r>
              <a:rPr lang="en-IN" dirty="0"/>
              <a:t> is a technology-based training and internship organization that provides students with industry-oriented learning in various technical domains. The company focuses on bridging the gap between academic knowledge and practical industry skills through structured training, hands-on assignments, and mentor guidance.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pic>
        <p:nvPicPr>
          <p:cNvPr id="5" name="Picture 4" descr="https://images.openai.com/static-rsc-4/u59ysvb9jNSG0RjJoQMofz0HHBzG1Q7G7HeZ7EDK5uApJ2a3IeL6168aOtkT09OKdfMdixzwHzBTLeq8NDIBGSeTAaEVPIPQF5sm5cU5N5gZ5HVkTGKgqRAggSacX3gZQGegdLvIK13Dx75n89gw3KwM9m6fOvzJZoJBhNaYJqMoaBW6sSgYrhQ2TDZ5OTQW?purpose=fullsize">
            <a:extLst>
              <a:ext uri="{FF2B5EF4-FFF2-40B4-BE49-F238E27FC236}">
                <a16:creationId xmlns:a16="http://schemas.microsoft.com/office/drawing/2014/main" id="{70764F61-C0E5-3E9A-3EA9-AF9BFCA02A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5260" y="1226383"/>
            <a:ext cx="4405234" cy="4405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428933"/>
      </p:ext>
    </p:extLst>
  </p:cSld>
  <p:clrMapOvr>
    <a:masterClrMapping/>
  </p:clrMapOvr>
  <p:transition spd="slow">
    <p:blinds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53DD10-1B28-8066-D73C-3038E856E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195F4C-44D2-4F45-A0AC-21646A9D27BF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4E93B2-703C-38D6-6EA0-882C7B04F024}"/>
              </a:ext>
            </a:extLst>
          </p:cNvPr>
          <p:cNvSpPr txBox="1"/>
          <p:nvPr/>
        </p:nvSpPr>
        <p:spPr>
          <a:xfrm>
            <a:off x="614596" y="254832"/>
            <a:ext cx="7345182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Key Features</a:t>
            </a:r>
          </a:p>
          <a:p>
            <a:pPr lvl="0"/>
            <a:r>
              <a:rPr lang="en-IN" sz="2800" dirty="0"/>
              <a:t>Industry-oriented internship programs </a:t>
            </a:r>
          </a:p>
          <a:p>
            <a:pPr lvl="0"/>
            <a:r>
              <a:rPr lang="en-IN" sz="2800" dirty="0"/>
              <a:t>Experienced mentors and trainers </a:t>
            </a:r>
          </a:p>
          <a:p>
            <a:pPr lvl="0"/>
            <a:r>
              <a:rPr lang="en-IN" sz="2800" dirty="0"/>
              <a:t>Project-based learning </a:t>
            </a:r>
          </a:p>
          <a:p>
            <a:pPr lvl="0"/>
            <a:r>
              <a:rPr lang="en-IN" sz="2800" dirty="0"/>
              <a:t>Regular assessments and feedback </a:t>
            </a:r>
          </a:p>
          <a:p>
            <a:pPr lvl="0"/>
            <a:r>
              <a:rPr lang="en-IN" sz="2800" dirty="0"/>
              <a:t>Skill development in emerging technologies </a:t>
            </a:r>
          </a:p>
          <a:p>
            <a:r>
              <a:rPr lang="en-IN" sz="2800" b="1" dirty="0"/>
              <a:t>Internship Details</a:t>
            </a:r>
          </a:p>
          <a:p>
            <a:pPr lvl="0"/>
            <a:r>
              <a:rPr lang="en-IN" sz="2800" b="1" dirty="0"/>
              <a:t>Domain:</a:t>
            </a:r>
            <a:r>
              <a:rPr lang="en-IN" sz="2800" dirty="0"/>
              <a:t> Cybersecurity </a:t>
            </a:r>
          </a:p>
          <a:p>
            <a:pPr lvl="0"/>
            <a:r>
              <a:rPr lang="en-IN" sz="2800" b="1" dirty="0"/>
              <a:t>Duration:</a:t>
            </a:r>
            <a:r>
              <a:rPr lang="en-IN" sz="2800" dirty="0"/>
              <a:t> 1 Month (05 June 2026 – 05 July 2026) </a:t>
            </a:r>
          </a:p>
          <a:p>
            <a:pPr lvl="0"/>
            <a:r>
              <a:rPr lang="en-IN" sz="2800" b="1" dirty="0"/>
              <a:t>Mode:</a:t>
            </a:r>
            <a:r>
              <a:rPr lang="en-IN" sz="2800" dirty="0"/>
              <a:t> Online </a:t>
            </a:r>
          </a:p>
          <a:p>
            <a:pPr lvl="0"/>
            <a:r>
              <a:rPr lang="en-IN" sz="2800" b="1" dirty="0"/>
              <a:t>Learning Model:</a:t>
            </a:r>
            <a:r>
              <a:rPr lang="en-IN" sz="2800" dirty="0"/>
              <a:t> Practical + Theory</a:t>
            </a:r>
          </a:p>
          <a:p>
            <a:endParaRPr lang="en-IN" dirty="0"/>
          </a:p>
        </p:txBody>
      </p:sp>
      <p:pic>
        <p:nvPicPr>
          <p:cNvPr id="4" name="Picture 3" descr="https://images.openai.com/static-rsc-4/WKRc1NiRZaSH3Z3HlUtyDcmUfxtdXyXi57fGn9A6B0Y8MMBEIZ8I9wIGa1mcJ8OitzAGoFPvlkI11q7rB2ZsTIaErjwGrNWuR0C4xsxZOGY-psdYizy-eQHqeeyswbaw_E3CbpiHSEpJ0Tf3b0gqVdwfGf0acnzAACgaTwZltjJwVVOPwGVOdPhMctvn6AqA?purpose=fullsize">
            <a:extLst>
              <a:ext uri="{FF2B5EF4-FFF2-40B4-BE49-F238E27FC236}">
                <a16:creationId xmlns:a16="http://schemas.microsoft.com/office/drawing/2014/main" id="{6178BC77-18DA-2804-2043-58FC214A9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9778" y="1154553"/>
            <a:ext cx="4232222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476720"/>
      </p:ext>
    </p:extLst>
  </p:cSld>
  <p:clrMapOvr>
    <a:masterClrMapping/>
  </p:clrMapOvr>
  <p:transition spd="slow">
    <p:blinds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419" y="0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198" y="712819"/>
            <a:ext cx="6965430" cy="4592426"/>
          </a:xfrm>
        </p:spPr>
        <p:txBody>
          <a:bodyPr/>
          <a:lstStyle/>
          <a:p>
            <a:r>
              <a:rPr lang="en-IN" sz="2400" b="1" dirty="0"/>
              <a:t>Domain: Cybersecurity</a:t>
            </a:r>
          </a:p>
          <a:p>
            <a:r>
              <a:rPr lang="en-IN" sz="2400" dirty="0"/>
              <a:t>Cybersecurity is the process of protecting computer systems, networks, and digital information from cyber threats, unauthorized access, malware, and data breaches.</a:t>
            </a:r>
          </a:p>
          <a:p>
            <a:r>
              <a:rPr lang="en-IN" sz="2400" b="1" dirty="0"/>
              <a:t>Areas Covered</a:t>
            </a:r>
          </a:p>
          <a:p>
            <a:pPr marL="0" lvl="0" indent="0">
              <a:buNone/>
            </a:pPr>
            <a:r>
              <a:rPr lang="en-IN" sz="2400" dirty="0"/>
              <a:t>--Network Security             --Penetration Testing </a:t>
            </a:r>
          </a:p>
          <a:p>
            <a:pPr marL="0" lvl="0" indent="0">
              <a:buNone/>
            </a:pPr>
            <a:r>
              <a:rPr lang="en-IN" sz="2400" dirty="0"/>
              <a:t>--Firewalls                             --Incident Response </a:t>
            </a:r>
          </a:p>
          <a:p>
            <a:pPr marL="0" lvl="0" indent="0">
              <a:buNone/>
            </a:pPr>
            <a:r>
              <a:rPr lang="en-IN" sz="2400" dirty="0"/>
              <a:t>--Security Operations </a:t>
            </a:r>
            <a:r>
              <a:rPr lang="en-IN" sz="2400" dirty="0" err="1"/>
              <a:t>Center</a:t>
            </a:r>
            <a:r>
              <a:rPr lang="en-IN" sz="2400" dirty="0"/>
              <a:t> (SOC)</a:t>
            </a:r>
          </a:p>
          <a:p>
            <a:pPr marL="0" lvl="0" indent="0">
              <a:buNone/>
            </a:pPr>
            <a:r>
              <a:rPr lang="en-IN" sz="2400" dirty="0"/>
              <a:t>--Information Security        --Ethical Hacking</a:t>
            </a:r>
          </a:p>
          <a:p>
            <a:pPr marL="0" lvl="0" indent="0">
              <a:buNone/>
            </a:pPr>
            <a:r>
              <a:rPr lang="en-IN" sz="2400" dirty="0"/>
              <a:t>--Penetration Testing 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pic>
        <p:nvPicPr>
          <p:cNvPr id="5" name="Picture 4" descr="https://images.openai.com/static-rsc-4/xJgZQImwEWmGbLcc5ZY1VBdySpb1uINkDhk5MYQw69khy9xpUXPiP-JPWFbZTovgg2oXlYqrqxbRbEp1BZ1jVgABQbm0CrH0EgLNlE-h5YsFXB3af5BRQ2PUEUZ_vsH3aKwHXlPDakreUi8pYK-dih3Ney0sQtOBdsW14k4ioUa3hYoRAio0CJXFfKb9WsCL?purpose=fullsize">
            <a:extLst>
              <a:ext uri="{FF2B5EF4-FFF2-40B4-BE49-F238E27FC236}">
                <a16:creationId xmlns:a16="http://schemas.microsoft.com/office/drawing/2014/main" id="{9CDD56D7-153E-CE2C-3364-5AC4EBB53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4044" y="1552755"/>
            <a:ext cx="4756878" cy="345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87700"/>
      </p:ext>
    </p:extLst>
  </p:cSld>
  <p:clrMapOvr>
    <a:masterClrMapping/>
  </p:clrMapOvr>
  <p:transition spd="slow">
    <p:blinds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613" y="1184366"/>
            <a:ext cx="6207177" cy="4058194"/>
          </a:xfrm>
        </p:spPr>
        <p:txBody>
          <a:bodyPr/>
          <a:lstStyle/>
          <a:p>
            <a:pPr marL="0" indent="0">
              <a:buNone/>
            </a:pPr>
            <a:r>
              <a:rPr lang="en-IN" sz="2400" dirty="0"/>
              <a:t>--The primary objectives of this internship were:</a:t>
            </a:r>
          </a:p>
          <a:p>
            <a:pPr lvl="0"/>
            <a:r>
              <a:rPr lang="en-IN" sz="2400" dirty="0"/>
              <a:t>Learn cybersecurity fundamentals. </a:t>
            </a:r>
          </a:p>
          <a:p>
            <a:pPr lvl="0"/>
            <a:r>
              <a:rPr lang="en-IN" sz="2400" dirty="0"/>
              <a:t>Understand networking concepts. </a:t>
            </a:r>
          </a:p>
          <a:p>
            <a:pPr lvl="0"/>
            <a:r>
              <a:rPr lang="en-IN" sz="2400" dirty="0"/>
              <a:t>Study different cyber attacks and threats. </a:t>
            </a:r>
          </a:p>
          <a:p>
            <a:pPr lvl="0"/>
            <a:r>
              <a:rPr lang="en-IN" sz="2400" dirty="0"/>
              <a:t>Learn encryption and cryptography. </a:t>
            </a:r>
          </a:p>
          <a:p>
            <a:pPr lvl="0"/>
            <a:r>
              <a:rPr lang="en-IN" sz="2400" dirty="0"/>
              <a:t>Perform vulnerability assessment. 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0E46ED-89C0-5E7D-3D0A-79778CE3DF13}"/>
              </a:ext>
            </a:extLst>
          </p:cNvPr>
          <p:cNvSpPr txBox="1"/>
          <p:nvPr/>
        </p:nvSpPr>
        <p:spPr>
          <a:xfrm>
            <a:off x="7114389" y="1615686"/>
            <a:ext cx="472190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Understand penetration testing.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 Learn firewall concepts.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Study ethical hacking.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Understand SOC operations.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Improve technical and communication skills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432951823"/>
      </p:ext>
    </p:extLst>
  </p:cSld>
  <p:clrMapOvr>
    <a:masterClrMapping/>
  </p:clrMapOvr>
  <p:transition spd="slow">
    <p:blinds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5643" y="0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 / Course Description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597" y="819241"/>
            <a:ext cx="11137692" cy="5036551"/>
          </a:xfrm>
        </p:spPr>
        <p:txBody>
          <a:bodyPr/>
          <a:lstStyle/>
          <a:p>
            <a:r>
              <a:rPr lang="en-IN" sz="2400" dirty="0"/>
              <a:t>The internship followed a structured learning methodology consisting of four phases:</a:t>
            </a:r>
          </a:p>
          <a:p>
            <a:r>
              <a:rPr lang="en-IN" sz="2400" b="1" dirty="0"/>
              <a:t>Phase 1 – Learning  </a:t>
            </a:r>
          </a:p>
          <a:p>
            <a:pPr lvl="0"/>
            <a:r>
              <a:rPr lang="en-IN" sz="2400" dirty="0"/>
              <a:t>Cybersecurity Fundamentals </a:t>
            </a:r>
          </a:p>
          <a:p>
            <a:pPr lvl="0"/>
            <a:r>
              <a:rPr lang="en-IN" sz="2400" dirty="0"/>
              <a:t>Networking Basics </a:t>
            </a:r>
          </a:p>
          <a:p>
            <a:pPr lvl="0"/>
            <a:r>
              <a:rPr lang="en-IN" sz="2400" dirty="0"/>
              <a:t>Security Principles </a:t>
            </a:r>
          </a:p>
          <a:p>
            <a:r>
              <a:rPr lang="en-IN" sz="2400" b="1" dirty="0"/>
              <a:t>Phase 2 – Practical Training</a:t>
            </a:r>
          </a:p>
          <a:p>
            <a:pPr lvl="0"/>
            <a:r>
              <a:rPr lang="en-IN" sz="2400" dirty="0"/>
              <a:t>Encryption </a:t>
            </a:r>
          </a:p>
          <a:p>
            <a:pPr lvl="0"/>
            <a:r>
              <a:rPr lang="en-IN" sz="2400" dirty="0"/>
              <a:t>Firewalls </a:t>
            </a:r>
          </a:p>
          <a:p>
            <a:pPr lvl="0"/>
            <a:r>
              <a:rPr lang="en-IN" sz="2400" dirty="0"/>
              <a:t>Vulnerability Assessment   </a:t>
            </a:r>
          </a:p>
          <a:p>
            <a:pPr lvl="0"/>
            <a:r>
              <a:rPr lang="en-IN" sz="2400" dirty="0"/>
              <a:t>Penetration Testing</a:t>
            </a:r>
          </a:p>
          <a:p>
            <a:pPr lvl="0"/>
            <a:endParaRPr lang="en-IN" sz="2400" dirty="0"/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pic>
        <p:nvPicPr>
          <p:cNvPr id="5" name="Picture 4" descr="https://images.openai.com/static-rsc-4/27ddC8p9WKzC16tFxx9CtEuetZSvl9XUhcjjl9qIoXvhLYvlAGTZ9V5nHaxmf8Rw6vCQm8FRQa3b49psGLN72TB4GG-_Ifvl2miIsdivpu2od6KVMXf3tHqW3BKzIJrxdlT95_56D2_i7oQTI1zBbQdAUWg5bh-zpQpPRz8bFRQbcxtwCA000U75Vbc49NJ0?purpose=fullsize">
            <a:extLst>
              <a:ext uri="{FF2B5EF4-FFF2-40B4-BE49-F238E27FC236}">
                <a16:creationId xmlns:a16="http://schemas.microsoft.com/office/drawing/2014/main" id="{35E87719-5287-81D5-EC50-BAE4E3E77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3320" y="1637921"/>
            <a:ext cx="5869074" cy="4035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58729"/>
      </p:ext>
    </p:extLst>
  </p:cSld>
  <p:clrMapOvr>
    <a:masterClrMapping/>
  </p:clrMapOvr>
  <p:transition spd="slow">
    <p:blinds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1A209D-4477-D46E-6A9C-7974912D9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195F4C-44D2-4F45-A0AC-21646A9D27BF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5842E4-C798-FACD-287D-A3C6C169B9B9}"/>
              </a:ext>
            </a:extLst>
          </p:cNvPr>
          <p:cNvSpPr txBox="1"/>
          <p:nvPr/>
        </p:nvSpPr>
        <p:spPr>
          <a:xfrm>
            <a:off x="1113020" y="1343493"/>
            <a:ext cx="60935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Phase 3 – Assignments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Weekly practical tasks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Case studies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Technical assessments </a:t>
            </a:r>
          </a:p>
          <a:p>
            <a:pPr>
              <a:buNone/>
            </a:pPr>
            <a:r>
              <a:rPr lang="en-IN" sz="2400" b="1" dirty="0"/>
              <a:t>Phase 4 – Evaluation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Performance review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Final assessment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/>
              <a:t>Report generation </a:t>
            </a:r>
          </a:p>
        </p:txBody>
      </p:sp>
      <p:pic>
        <p:nvPicPr>
          <p:cNvPr id="5" name="Picture 4" descr="https://images.openai.com/static-rsc-4/bxPYdE2vzyCLXCpcwnSGi3xiXduGxEq9NVf38S68qoImsah1JgvcIgdRN__xyWxxZ7g06Z1PF7kFOtAGTEaKa_dLaIWZJMHnZOfUCG7Q_6a3bvxAerUkc1p8pV0EUJinTlfX1VCcJEl58yfT1gqfEx8FtvOsh08HF2vYZ4rxU-Bd2F2HO3laFYBAhIYmv22g?purpose=fullsize">
            <a:extLst>
              <a:ext uri="{FF2B5EF4-FFF2-40B4-BE49-F238E27FC236}">
                <a16:creationId xmlns:a16="http://schemas.microsoft.com/office/drawing/2014/main" id="{4D9617D5-B1EA-3B01-0538-2DF0489B0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6636" y="136526"/>
            <a:ext cx="6227164" cy="5544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896739"/>
      </p:ext>
    </p:extLst>
  </p:cSld>
  <p:clrMapOvr>
    <a:masterClrMapping/>
  </p:clrMapOvr>
  <p:transition spd="slow">
    <p:blinds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5649692" cy="4351338"/>
          </a:xfrm>
        </p:spPr>
        <p:txBody>
          <a:bodyPr/>
          <a:lstStyle/>
          <a:p>
            <a:r>
              <a:rPr lang="en-IN" sz="2400" b="1" dirty="0"/>
              <a:t>Learning Outcomes</a:t>
            </a:r>
          </a:p>
          <a:p>
            <a:pPr lvl="0"/>
            <a:r>
              <a:rPr lang="en-IN" sz="2400" dirty="0"/>
              <a:t>Improved cybersecurity knowledge. </a:t>
            </a:r>
          </a:p>
          <a:p>
            <a:pPr lvl="0"/>
            <a:r>
              <a:rPr lang="en-IN" sz="2400" dirty="0"/>
              <a:t>Understood network security concepts. </a:t>
            </a:r>
          </a:p>
          <a:p>
            <a:pPr lvl="0"/>
            <a:r>
              <a:rPr lang="en-IN" sz="2400" dirty="0"/>
              <a:t>Learned ethical hacking fundamentals. </a:t>
            </a:r>
          </a:p>
          <a:p>
            <a:pPr lvl="0"/>
            <a:r>
              <a:rPr lang="en-IN" sz="2400" dirty="0"/>
              <a:t>Developed analytical and problem-solving skills. </a:t>
            </a:r>
          </a:p>
          <a:p>
            <a:pPr lvl="0"/>
            <a:r>
              <a:rPr lang="en-IN" sz="2400" dirty="0"/>
              <a:t>Enhanced technical documentation skills. </a:t>
            </a:r>
          </a:p>
          <a:p>
            <a:pPr lvl="0"/>
            <a:r>
              <a:rPr lang="en-IN" sz="2400" dirty="0"/>
              <a:t>Gained industry exposure. 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2173A3-DCC0-75BE-F0AE-17DFEBA93033}"/>
              </a:ext>
            </a:extLst>
          </p:cNvPr>
          <p:cNvSpPr txBox="1"/>
          <p:nvPr/>
        </p:nvSpPr>
        <p:spPr>
          <a:xfrm>
            <a:off x="7133479" y="2189382"/>
            <a:ext cx="452702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Internship Performance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Overall Score:</a:t>
            </a:r>
            <a:r>
              <a:rPr lang="en-IN" sz="2400" dirty="0"/>
              <a:t> </a:t>
            </a:r>
            <a:r>
              <a:rPr lang="en-IN" sz="2400" b="1" dirty="0"/>
              <a:t>91.65%</a:t>
            </a:r>
            <a:r>
              <a:rPr lang="en-IN" sz="24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Grade:</a:t>
            </a:r>
            <a:r>
              <a:rPr lang="en-IN" sz="2400" dirty="0"/>
              <a:t> </a:t>
            </a:r>
            <a:r>
              <a:rPr lang="en-IN" sz="2400" b="1" dirty="0"/>
              <a:t>A+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Performance:</a:t>
            </a:r>
            <a:r>
              <a:rPr lang="en-IN" sz="2400" dirty="0"/>
              <a:t> Outstanding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b="1" dirty="0"/>
          </a:p>
          <a:p>
            <a:endParaRPr lang="en-IN" sz="2400" b="1" dirty="0"/>
          </a:p>
          <a:p>
            <a:pPr lvl="0"/>
            <a:endParaRPr lang="en-IN" sz="2400" dirty="0"/>
          </a:p>
          <a:p>
            <a:pPr lvl="0"/>
            <a:r>
              <a:rPr lang="en-IN" sz="2400" dirty="0"/>
              <a:t> 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163375810"/>
      </p:ext>
    </p:extLst>
  </p:cSld>
  <p:clrMapOvr>
    <a:masterClrMapping/>
  </p:clrMapOvr>
  <p:transition spd="slow">
    <p:blinds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456" y="1365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856" y="887595"/>
            <a:ext cx="11752287" cy="4351338"/>
          </a:xfrm>
        </p:spPr>
        <p:txBody>
          <a:bodyPr/>
          <a:lstStyle/>
          <a:p>
            <a:r>
              <a:rPr lang="en-IN" sz="2400" dirty="0"/>
              <a:t>The internship provided valuable practical exposure to cybersecurity concepts and industry practices. It helped me understand the importance of securing computer systems, identifying vulnerabilities, and responding to cyber threats.</a:t>
            </a:r>
          </a:p>
          <a:p>
            <a:r>
              <a:rPr lang="en-IN" b="1" dirty="0"/>
              <a:t>Key Achievements</a:t>
            </a:r>
          </a:p>
          <a:p>
            <a:pPr lvl="0"/>
            <a:r>
              <a:rPr lang="en-IN" sz="2400" dirty="0"/>
              <a:t>Strong understanding of cybersecurity concepts. </a:t>
            </a:r>
          </a:p>
          <a:p>
            <a:pPr lvl="0"/>
            <a:r>
              <a:rPr lang="en-IN" sz="2400" dirty="0"/>
              <a:t>Improved practical and technical skills. </a:t>
            </a:r>
          </a:p>
          <a:p>
            <a:pPr lvl="0"/>
            <a:r>
              <a:rPr lang="en-IN" sz="2400" dirty="0"/>
              <a:t>Better problem-solving ability. </a:t>
            </a:r>
          </a:p>
          <a:p>
            <a:pPr lvl="0"/>
            <a:r>
              <a:rPr lang="en-IN" sz="2400" dirty="0"/>
              <a:t>Enhanced teamwork and communication. </a:t>
            </a:r>
          </a:p>
          <a:p>
            <a:pPr lvl="0"/>
            <a:r>
              <a:rPr lang="en-IN" sz="2400" dirty="0"/>
              <a:t>Increased confidence for future career opportunities.</a:t>
            </a: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392139"/>
      </p:ext>
    </p:extLst>
  </p:cSld>
  <p:clrMapOvr>
    <a:masterClrMapping/>
  </p:clrMapOvr>
  <p:transition spd="slow">
    <p:blinds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11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58975439"/>
      </p:ext>
    </p:extLst>
  </p:cSld>
  <p:clrMapOvr>
    <a:masterClrMapping/>
  </p:clrMapOvr>
  <p:transition spd="slow">
    <p:blinds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8440382"/>
      </p:ext>
    </p:extLst>
  </p:cSld>
  <p:clrMapOvr>
    <a:masterClrMapping/>
  </p:clrMapOvr>
  <p:transition spd="slow">
    <p:blinds dir="vert"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7856</TotalTime>
  <Words>530</Words>
  <Application>Microsoft Office PowerPoint</Application>
  <PresentationFormat>Widescreen</PresentationFormat>
  <Paragraphs>120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PowerPoint Presentation</vt:lpstr>
      <vt:lpstr>Working domain or the technology</vt:lpstr>
      <vt:lpstr>Objectives of the work</vt:lpstr>
      <vt:lpstr>Methodology Used / Course Description </vt:lpstr>
      <vt:lpstr>PowerPoint Presentation</vt:lpstr>
      <vt:lpstr>Results</vt:lpstr>
      <vt:lpstr>Conclusion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Preeteesh</dc:creator>
  <cp:lastModifiedBy>PRIYANSHU KUMAR</cp:lastModifiedBy>
  <cp:revision>943</cp:revision>
  <cp:lastPrinted>2018-07-24T06:37:20Z</cp:lastPrinted>
  <dcterms:created xsi:type="dcterms:W3CDTF">2018-06-07T04:06:17Z</dcterms:created>
  <dcterms:modified xsi:type="dcterms:W3CDTF">2026-08-07T18:51:17Z</dcterms:modified>
</cp:coreProperties>
</file>